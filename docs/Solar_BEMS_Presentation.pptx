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033" autoAdjust="0"/>
  </p:normalViewPr>
  <p:slideViewPr>
    <p:cSldViewPr snapToGrid="0" snapToObjects="1">
      <p:cViewPr varScale="1">
        <p:scale>
          <a:sx n="104" d="100"/>
          <a:sy n="104" d="100"/>
        </p:scale>
        <p:origin x="744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F3D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F1F3D"/>
                </a:solidFill>
                <a:latin typeface="Arial"/>
              </a:rPr>
              <a:t>CC/CV Charging Profile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Battery voltage (V)</c:v>
                </c:pt>
              </c:strCache>
            </c:strRef>
          </c:tx>
          <c:spPr>
            <a:ln w="38100" cap="flat">
              <a:solidFill>
                <a:srgbClr val="1565C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565C0"/>
              </a:solidFill>
              <a:ln w="9525" cap="flat">
                <a:solidFill>
                  <a:srgbClr val="1565C0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0.0h</c:v>
                </c:pt>
                <c:pt idx="1">
                  <c:v>0.5h</c:v>
                </c:pt>
                <c:pt idx="2">
                  <c:v>1.0h</c:v>
                </c:pt>
                <c:pt idx="3">
                  <c:v>1.5h</c:v>
                </c:pt>
                <c:pt idx="4">
                  <c:v>2.0h</c:v>
                </c:pt>
                <c:pt idx="5">
                  <c:v>2.5h</c:v>
                </c:pt>
                <c:pt idx="6">
                  <c:v>3.0h</c:v>
                </c:pt>
                <c:pt idx="7">
                  <c:v>3.5h</c:v>
                </c:pt>
                <c:pt idx="8">
                  <c:v>4.0h</c:v>
                </c:pt>
                <c:pt idx="9">
                  <c:v>4.5h</c:v>
                </c:pt>
                <c:pt idx="10">
                  <c:v>5.0h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</c:v>
                </c:pt>
                <c:pt idx="1">
                  <c:v>10.5</c:v>
                </c:pt>
                <c:pt idx="2">
                  <c:v>11</c:v>
                </c:pt>
                <c:pt idx="3">
                  <c:v>11.4</c:v>
                </c:pt>
                <c:pt idx="4">
                  <c:v>11.9</c:v>
                </c:pt>
                <c:pt idx="5">
                  <c:v>12.6</c:v>
                </c:pt>
                <c:pt idx="6">
                  <c:v>12.6</c:v>
                </c:pt>
                <c:pt idx="7">
                  <c:v>12.6</c:v>
                </c:pt>
                <c:pt idx="8">
                  <c:v>12.6</c:v>
                </c:pt>
                <c:pt idx="9">
                  <c:v>12.6</c:v>
                </c:pt>
                <c:pt idx="10">
                  <c:v>12.6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019A-48CA-95FC-EC253D2F51C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Charge current (A)</c:v>
                </c:pt>
              </c:strCache>
            </c:strRef>
          </c:tx>
          <c:spPr>
            <a:ln w="381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0.0h</c:v>
                </c:pt>
                <c:pt idx="1">
                  <c:v>0.5h</c:v>
                </c:pt>
                <c:pt idx="2">
                  <c:v>1.0h</c:v>
                </c:pt>
                <c:pt idx="3">
                  <c:v>1.5h</c:v>
                </c:pt>
                <c:pt idx="4">
                  <c:v>2.0h</c:v>
                </c:pt>
                <c:pt idx="5">
                  <c:v>2.5h</c:v>
                </c:pt>
                <c:pt idx="6">
                  <c:v>3.0h</c:v>
                </c:pt>
                <c:pt idx="7">
                  <c:v>3.5h</c:v>
                </c:pt>
                <c:pt idx="8">
                  <c:v>4.0h</c:v>
                </c:pt>
                <c:pt idx="9">
                  <c:v>4.5h</c:v>
                </c:pt>
                <c:pt idx="10">
                  <c:v>5.0h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1.2</c:v>
                </c:pt>
                <c:pt idx="1">
                  <c:v>1.2</c:v>
                </c:pt>
                <c:pt idx="2">
                  <c:v>1.2</c:v>
                </c:pt>
                <c:pt idx="3">
                  <c:v>1.2</c:v>
                </c:pt>
                <c:pt idx="4">
                  <c:v>1.2</c:v>
                </c:pt>
                <c:pt idx="5">
                  <c:v>1.2</c:v>
                </c:pt>
                <c:pt idx="6">
                  <c:v>0.9</c:v>
                </c:pt>
                <c:pt idx="7">
                  <c:v>0.6</c:v>
                </c:pt>
                <c:pt idx="8">
                  <c:v>0.35</c:v>
                </c:pt>
                <c:pt idx="9">
                  <c:v>0.15</c:v>
                </c:pt>
                <c:pt idx="10">
                  <c:v>0.05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019A-48CA-95FC-EC253D2F51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4632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yourself. State the project name, your department (EEE), and supervisor. Mention this is your graduation project covering two semesters at Istanbul Arel University.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problems, one solution. Emphasize that addressing all three simultaneously — intermittency, cell safety, and wasted power — requires a smart embedded system, not just a charger.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primary objectives forming a complete embedded power management system. Walk through each briefly — focus on the fact that all six were validated in the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block diagram and trace the power flow: Solar panel → protection → INA219 sensing → XL4015 charging → battery. Then battery → LM2596 → Arduino (control). The Arduino manages everything — MPPT, CC/CV, LVD, display.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Spend 30 seconds on this slide. Highlight the XL4015 for hardware CC/CV control, the INA219 for digital power measurement, and the Mega over the Uno for its hardware I2C on pins 20/21.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modular three-board approach makes testing easier — each board can be verified independently before integration. Board 1 handles all high-current paths. Boards 2 and 3 are low-voltage signal boards.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P&amp;O is the industry-standard MPPT algorithm because it needs no panel model parameters. The trade-off is a small steady-state oscillation of ±1% duty cycle around the true MPP.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CC/CV protocol is mandatory for Li-ion cells — it's not optional. Emphasize that the XL4015 handles this in hardware (trim pots) and the Arduino supervises the state machine logic. The 12.60V limit (4.20V per cell) prevents overcharge.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state machine is the firmware's brain. FAULT always wins — if temperature goes above 45°C the system stops regardless of what it was doing. Walk through a typical charge cycle: NIGHT → MPPT CC → MPPT CV → FLOAT.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OLED display while the system is running. Screen 1 is what you'll show during the demo. Serial Monitor also logs all values at 500ms intervals for post-analysis.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8 measured parameters pass. Emphasize the LVD hysteresis (9.0V / 11.0V = 2V gap) which prevents rapid load cycling. The SoH result of 89.2% is realistic for cells that have undergone prior characterisation cycles.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assembled hardware. Demonstrate the system running live — OLED showing Vpv, Ipv, Ppv, Vbat, Temperature, and mode. If the panel is available, connect it as the final demo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direct and honest about limitations — professors respect transparency. The limitations are documented and have clear engineering solutions (second INA219, KiCad PCB). Emphasize that all 6 primary objectives were met.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work demonstrates the project is a foundation, not a ceiling. The two highest-impact items are the second INA219 (needs only a soldering iron) and the KiCad PCB (hours of design work). Physical panel integration is already partially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Bring the presentation full circle. You started with three problems (intermittency, battery safety, wasted power) and you've demonstrated a system that addresses all three. Transition to the Q&amp;A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Prepare for common questions: (1) Why not use a second INA219? Answer: address conflict on basic module — documented next step. (2) How does P&amp;O track the MPP? The perturbation + observation loop. (3) Why perfboard not PCB? Timeline and component availability. (4) What is the system efficiency? Documented as future measurement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5603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kern="0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ISTANBUL AREL UNIVERSITY  ·  ELECTRICAL &amp; ELECTRONICS ENGINEERING</a:t>
            </a:r>
            <a:endParaRPr lang="en-US" sz="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640080"/>
            <a:ext cx="713232" cy="7132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05156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Panel–Based Battery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1801368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Energy Management System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3520440" y="2715768"/>
            <a:ext cx="2103120" cy="393192"/>
          </a:xfrm>
          <a:prstGeom prst="roundRect">
            <a:avLst>
              <a:gd name="adj" fmla="val 18605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20440" y="2715768"/>
            <a:ext cx="21031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BEMS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331012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Salama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65760" y="373075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 Project  ·  June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405993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Oben DAĞ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— The Challenge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86868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71016" y="987552"/>
            <a:ext cx="768096" cy="768096"/>
          </a:xfrm>
          <a:prstGeom prst="ellipse">
            <a:avLst/>
          </a:prstGeom>
          <a:solidFill>
            <a:srgbClr val="F39C12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024" y="105156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20624" y="19019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Solar Intermittency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20624" y="2359152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Irradiance varies continuously with weather, time of day, and season. Without energy storage, generated power is wasted or unavailable on demand.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145536" y="86868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23944" y="987552"/>
            <a:ext cx="768096" cy="768096"/>
          </a:xfrm>
          <a:prstGeom prst="ellipse">
            <a:avLst/>
          </a:prstGeom>
          <a:solidFill>
            <a:srgbClr val="0D9488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105156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73552" y="19019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Battery Safety Risk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273552" y="2359152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Li-ion cells require precise voltage control. Overcharge (&gt;4.2 V/cell) causes thermal runaway. Over-discharge (&lt;3.0 V/cell) causes permanent capacity loss.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98464" y="868680"/>
            <a:ext cx="2724912" cy="397764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6976872" y="987552"/>
            <a:ext cx="768096" cy="768096"/>
          </a:xfrm>
          <a:prstGeom prst="ellipse">
            <a:avLst/>
          </a:prstGeom>
          <a:solidFill>
            <a:srgbClr val="1565C0">
              <a:alpha val="9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05156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1901952"/>
            <a:ext cx="2468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Wasted PV Potential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126480" y="2359152"/>
            <a:ext cx="2468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PWM controllers don't implement MPPT. Under variable irradiance up to 30% of available PV power is wasted by operating at the wrong voltage.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5760" y="4800600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A microcontroller-based Solar BEMS implementing MPPT + CC/CV charging + SoH estimation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859536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84048" y="1106424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84048" y="1106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50976" y="95097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P&amp;O MPPT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50976" y="1307592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PV energy extraction using Perturb-and-Observe algorithm at 100 ms control period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0016" y="859536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91456" y="1106424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91456" y="11064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58384" y="950976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CC/CV charging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58384" y="1307592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 3S Li-ion charging with firmware state-machine supervising hardware CV limit at 12.60 V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92608" y="219456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2441448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441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50976" y="228600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monitoring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2642616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real-time Vpv, Ipv, and Ppv using INA219 bidirectional sensor over I²C bus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0016" y="2194560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91456" y="2441448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791456" y="24414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358384" y="2286000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safety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58384" y="2642616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battery temperature with DS18B20 waterproof probe · fault shutdown above 45°C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2608" y="3529584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3776472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3776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50976" y="362102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 protection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0976" y="3977640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Low-Voltage Disconnect at 9.0 V with 2.0 V hysteresis to prevent over-discharge damage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0016" y="3529584"/>
            <a:ext cx="4206240" cy="1188720"/>
          </a:xfrm>
          <a:prstGeom prst="roundRect">
            <a:avLst>
              <a:gd name="adj" fmla="val 6154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91456" y="3776472"/>
            <a:ext cx="475488" cy="47548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91456" y="37764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358384" y="3621024"/>
            <a:ext cx="34015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estimation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58384" y="3977640"/>
            <a:ext cx="34015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Coulomb counting for State-of-Health tracking · display all parameters live on OLED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5394960" cy="3547872"/>
          </a:xfrm>
          <a:prstGeom prst="roundRect">
            <a:avLst>
              <a:gd name="adj" fmla="val 3093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539496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SYSTEM BLOCK DIAGRAM HERE]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4379976"/>
            <a:ext cx="5394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block diagram — power flow and control topology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870448" y="77724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 Functional Subsystems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70448" y="1252728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053328" y="121615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 PV input &amp; protection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870448" y="1581912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053328" y="154533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  INA219 power sensing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70448" y="1911096"/>
            <a:ext cx="118872" cy="118872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53328" y="18745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 XL4015 CC/CV buck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70448" y="2240280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53328" y="220370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B4  3S Li-ion battery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70448" y="2569464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53328" y="25328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  DS18B20 temperature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70448" y="2898648"/>
            <a:ext cx="118872" cy="11887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53328" y="286207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B6  LM2596 5V supply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870448" y="3227832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53328" y="319125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B7  Arduino Mega 2560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870448" y="3557016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53328" y="35204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B8  Voltage divider (ADC)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870448" y="3886200"/>
            <a:ext cx="118872" cy="1188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053328" y="384962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  IRLZ44N load switch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70448" y="4215384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53328" y="41788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B10  12V DC fan (load)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870448" y="4544568"/>
            <a:ext cx="118872" cy="118872"/>
          </a:xfrm>
          <a:prstGeom prst="ellipse">
            <a:avLst/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053328" y="450799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B11  OLED SSD1306 display</a:t>
            </a:r>
            <a:endParaRPr lang="en-US" sz="1100" dirty="0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1F6140C-B91F-8167-26BA-33F4AC0CEE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4973"/>
            <a:ext cx="5715000" cy="3649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Hardware Components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488600"/>
              </p:ext>
            </p:extLst>
          </p:nvPr>
        </p:nvGraphicFramePr>
        <p:xfrm>
          <a:off x="274320" y="1076179"/>
          <a:ext cx="8595360" cy="336499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Specification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Solar panel 25Wp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energy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Voc=24.62V · Vmp=20.84V · Isc=1.38A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Arduino Mega 2560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Central controller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ATmega2560 · 16MHz · 54 digital I/O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XL4015 CC/CV buck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Battery charger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8–36V in · 0–5A adj. · dual trim pots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INA219 power monitor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PV V + I sensing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I²C 0x40 · 26V max · 12-bit 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LM2596 buck converter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Regulated 5V supply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4.5–50V in · 2A out · adj.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probe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sensing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−55 to +125°C · 1-Wire · ±0.5°C 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3S 18650 Li-ion pack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Energy storage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11.1V nominal · ~6000mAh · 9.0–12.6V range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Three-Board Hardware Design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804672"/>
            <a:ext cx="2743200" cy="40381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84048" y="85039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1 — Power Stage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× 15 cm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912" y="1993392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85216" y="195681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XL4015 CC/CV charging module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35000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5216" y="231343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LM2596 5V MCU power supply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8912" y="270662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" y="267004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PV current sensing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8912" y="306324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85216" y="302666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 · D1 diode · TVS clamp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" y="341985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5216" y="338328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85216" y="333756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screw terminals (J1, J2, J3)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18688" y="804672"/>
            <a:ext cx="2743200" cy="4038131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18688" y="740664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28416" y="85039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2 — Sensor Hub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0128" y="1252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× 7 cm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383280" y="199339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29584" y="195681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SDA pull-up  (R1 = 4.7kΩ)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383280" y="235000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9584" y="231343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SCL pull-up  (R2 = 4.7kΩ)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383280" y="27066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529584" y="267004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DQ pull-up (R5 = 4.7kΩ)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3383280" y="306324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529584" y="302666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probe connector (3-pin)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383280" y="341985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529584" y="3383280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Decoupling cap C9 (100nF)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3383280" y="3776472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529584" y="373989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header row T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63056" y="709715"/>
            <a:ext cx="2743200" cy="413308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163056" y="723783"/>
            <a:ext cx="2743200" cy="1051560"/>
          </a:xfrm>
          <a:prstGeom prst="roundRect">
            <a:avLst>
              <a:gd name="adj" fmla="val 10435"/>
            </a:avLst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72784" y="850392"/>
            <a:ext cx="252374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Board 3 — Display Panel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54496" y="125272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× 7 cm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6327648" y="1993392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73952" y="1956816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SSD1306 module (I²C 0x3C)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327648" y="2350008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73952" y="2313432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pushbutton (Pin 3)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327648" y="2706624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473952" y="2670048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 capacitor (100nF)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327648" y="3063240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473952" y="3026664"/>
            <a:ext cx="23225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header row V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boards connect to Arduino Mega 2560 via 5V · GND · SDA (Pin 20) · SCL (Pin 21) · DQ (Pin 2) · BTN (Pin 3)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P&amp;O MPPT Algorithm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MPPT is needed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65760" y="1207008"/>
            <a:ext cx="402336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 modules have a single Maximum Power Point (MPP) where dP/dV = 0. Its position shifts continuously with irradiance and temperature. A converter operating at a fixed voltage can miss the MPP, wasting up to 30% of available energy.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239572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P&amp;O algorithm steps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76148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1792" y="27340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Vpv and Ipv from INA219 over I²C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308152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" y="305409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Ppv = Vpv × Ipv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340156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" y="337413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ΔPpv = Ppv(T) − Ppv(T−1)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65760" y="372160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" y="3694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ΔPpv ≥ 0 → increase duty cycle by +1%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404164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" y="40142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ΔPpv &lt; 0 → decrease duty cycle by −1%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4361688"/>
            <a:ext cx="182880" cy="18288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" y="433425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updated duty cycle via analogWrite(Pin 9)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65760" y="4828032"/>
            <a:ext cx="402336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8280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Duty cycle range: 20%–90%  ·  Step size: ±1%  ·  Period: 100 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0916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flowchart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1243584"/>
            <a:ext cx="3017520" cy="402336"/>
          </a:xfrm>
          <a:prstGeom prst="roundRect">
            <a:avLst>
              <a:gd name="adj" fmla="val 15909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46320" y="12435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Vpv, Ipv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46320" y="1801368"/>
            <a:ext cx="3017520" cy="402336"/>
          </a:xfrm>
          <a:prstGeom prst="roundRect">
            <a:avLst>
              <a:gd name="adj" fmla="val 15909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180136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= Vpv × Ipv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46320" y="2359152"/>
            <a:ext cx="3017520" cy="402336"/>
          </a:xfrm>
          <a:prstGeom prst="roundRect">
            <a:avLst>
              <a:gd name="adj" fmla="val 15909"/>
            </a:avLst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2359152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ΔPpv = Ppv − Pprev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46320" y="2916936"/>
            <a:ext cx="3017520" cy="402336"/>
          </a:xfrm>
          <a:prstGeom prst="roundRect">
            <a:avLst>
              <a:gd name="adj" fmla="val 50000"/>
            </a:avLst>
          </a:prstGeom>
          <a:solidFill>
            <a:srgbClr val="D6891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2916936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ΔPpv ≥ 0 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55080" y="1645920"/>
            <a:ext cx="0" cy="15544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55080" y="2203704"/>
            <a:ext cx="0" cy="15544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355080" y="2761488"/>
            <a:ext cx="0" cy="15544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1188720" cy="402336"/>
          </a:xfrm>
          <a:prstGeom prst="roundRect">
            <a:avLst>
              <a:gd name="adj" fmla="val 15909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00800" y="3493008"/>
            <a:ext cx="1188720" cy="402336"/>
          </a:xfrm>
          <a:prstGeom prst="roundRect">
            <a:avLst>
              <a:gd name="adj" fmla="val 15909"/>
            </a:avLst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3493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0" y="34930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349240" y="3319272"/>
            <a:ext cx="0" cy="17373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995160" y="3319272"/>
            <a:ext cx="0" cy="17373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974336" y="33101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858000" y="331012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49240" y="3895344"/>
            <a:ext cx="0" cy="12801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95160" y="3895344"/>
            <a:ext cx="0" cy="128016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349240" y="4023360"/>
            <a:ext cx="16459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355080" y="4023360"/>
            <a:ext cx="0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46320" y="4160520"/>
            <a:ext cx="3017520" cy="402336"/>
          </a:xfrm>
          <a:prstGeom prst="roundRect">
            <a:avLst>
              <a:gd name="adj" fmla="val 15909"/>
            </a:avLst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6320" y="4718304"/>
            <a:ext cx="3017520" cy="402336"/>
          </a:xfrm>
          <a:prstGeom prst="roundRect">
            <a:avLst>
              <a:gd name="adj" fmla="val 15909"/>
            </a:avLst>
          </a:prstGeom>
          <a:solidFill>
            <a:srgbClr val="4755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46320" y="4160520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PWM (Pin 9)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46320" y="4718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100 ms  ↺ repeat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355080" y="4562856"/>
            <a:ext cx="0" cy="155448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CC/CV Battery Charging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Two-Phase Li-ion Protocol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023360" cy="1389888"/>
          </a:xfrm>
          <a:prstGeom prst="roundRect">
            <a:avLst>
              <a:gd name="adj" fmla="val 5263"/>
            </a:avLst>
          </a:prstGeom>
          <a:solidFill>
            <a:srgbClr val="DBEAFE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527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Constant Current (CC)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63624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current held constant at 1.2 A. Battery voltage rises from ~10.0 V to the CC/CV threshold at 11.5 V. XL4015 CC trim pot sets the current limit.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65760" y="2670048"/>
            <a:ext cx="4023360" cy="1389888"/>
          </a:xfrm>
          <a:prstGeom prst="roundRect">
            <a:avLst>
              <a:gd name="adj" fmla="val 5263"/>
            </a:avLst>
          </a:prstGeom>
          <a:solidFill>
            <a:srgbClr val="CCFB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73405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Constant Voltage (CV)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44952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clamped at 12.60 V by XL4015 CV trim pot. Current tapers naturally as cells approach full charge. Charging ends when current drops below 0.1 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" y="4169664"/>
            <a:ext cx="950976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4197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12.60 V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5760" y="448056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limit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389888" y="4169664"/>
            <a:ext cx="950976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389888" y="4197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11.50 V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89888" y="448056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CC→CV boundary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14016" y="4169664"/>
            <a:ext cx="950976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414016" y="4197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9.00 V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414016" y="448056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 disconnect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38144" y="4169664"/>
            <a:ext cx="950976" cy="694944"/>
          </a:xfrm>
          <a:prstGeom prst="roundRect">
            <a:avLst>
              <a:gd name="adj" fmla="val 10526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38144" y="4197096"/>
            <a:ext cx="9509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11.00 V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438144" y="4480560"/>
            <a:ext cx="950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 reconnect</a:t>
            </a:r>
            <a:endParaRPr lang="en-US" sz="900" dirty="0"/>
          </a:p>
        </p:txBody>
      </p:sp>
      <p:graphicFrame>
        <p:nvGraphicFramePr>
          <p:cNvPr id="22" name="Chart 0"/>
          <p:cNvGraphicFramePr/>
          <p:nvPr/>
        </p:nvGraphicFramePr>
        <p:xfrm>
          <a:off x="4663440" y="731520"/>
          <a:ext cx="429768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3657600" cy="3657600"/>
          </a:xfrm>
          <a:prstGeom prst="ellipse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 State Machine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92608" y="868680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A32D2D">
              <a:alpha val="92000"/>
            </a:srgbClr>
          </a:solidFill>
          <a:ln w="19050">
            <a:solidFill>
              <a:srgbClr val="A32D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02336" y="1014984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FAULT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02336" y="1527048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&gt; 45°C · all switches off immediately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8688" y="868680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37474F">
              <a:alpha val="92000"/>
            </a:srgbClr>
          </a:solidFill>
          <a:ln w="19050">
            <a:solidFill>
              <a:srgbClr val="37474F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28416" y="1014984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NIGHT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28416" y="1527048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Vpv &lt; 5V · no solar · load managed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44768" y="868680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0F6E56">
              <a:alpha val="92000"/>
            </a:srgbClr>
          </a:solidFill>
          <a:ln w="19050">
            <a:solidFill>
              <a:srgbClr val="0F6E5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54496" y="1014984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MPPT CC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254496" y="1527048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present · Vbat &lt; 11.5V · CC active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2304288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0F6E56">
              <a:alpha val="92000"/>
            </a:srgbClr>
          </a:solidFill>
          <a:ln w="19050">
            <a:solidFill>
              <a:srgbClr val="0F6E56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02336" y="2450592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MPPT CV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2336" y="2962656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present · 11.5V ≤ Vbat &lt; 12.6V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18688" y="2304288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854F0B">
              <a:alpha val="92000"/>
            </a:srgbClr>
          </a:solidFill>
          <a:ln w="19050">
            <a:solidFill>
              <a:srgbClr val="854F0B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28416" y="2450592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FLOAT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328416" y="2962656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Vbat ≥ 12.6V · charging suspended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44768" y="2304288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A32D2D">
              <a:alpha val="92000"/>
            </a:srgbClr>
          </a:solidFill>
          <a:ln w="19050">
            <a:solidFill>
              <a:srgbClr val="A32D2D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54496" y="2450592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OFF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254496" y="2962656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Vbat &lt; 9.0V · LVD · load disconnected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18688" y="3712464"/>
            <a:ext cx="2633472" cy="1316736"/>
          </a:xfrm>
          <a:prstGeom prst="roundRect">
            <a:avLst>
              <a:gd name="adj" fmla="val 6944"/>
            </a:avLst>
          </a:prstGeom>
          <a:solidFill>
            <a:srgbClr val="0C447C">
              <a:alpha val="92000"/>
            </a:srgbClr>
          </a:solidFill>
          <a:ln w="19050">
            <a:solidFill>
              <a:srgbClr val="0C447C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328416" y="3858768"/>
            <a:ext cx="241401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3328416" y="4370832"/>
            <a:ext cx="24140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Vbat &gt; 11.0V · load reconnected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609344" y="2185416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35424" y="2185416"/>
            <a:ext cx="0" cy="118872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35424" y="3657600"/>
            <a:ext cx="0" cy="5486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20040" y="4846320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every 100 ms  ·  FAULT state has highest priority and immediately preempts all other states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Monitoring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20040" y="804672"/>
            <a:ext cx="2697480" cy="406908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2697480" cy="406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PHOTO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HERE]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4864608"/>
            <a:ext cx="2697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OLED display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46120" y="804672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46120" y="804672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16305A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10128" y="914400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1 — Main Dashboard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85232" y="1024128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40680" y="978408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Vpv  ·  Ipv  ·  Ppv (live PV readings)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285232" y="1289304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40680" y="1243584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Vbat  ·  SoC% (battery status)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285232" y="1554480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40680" y="150876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in °C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285232" y="1819656"/>
            <a:ext cx="91440" cy="91440"/>
          </a:xfrm>
          <a:prstGeom prst="ellipse">
            <a:avLst/>
          </a:prstGeom>
          <a:solidFill>
            <a:srgbClr val="16305A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40680" y="177393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 label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46120" y="2221992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46120" y="2221992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0D9488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310128" y="2331720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2 — Diagnostics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85232" y="2441448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40680" y="2395728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PASS / FAIL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285232" y="2706624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40680" y="2660904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OLED PASS / FAIL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285232" y="2971800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40680" y="292608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PASS / FAIL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285232" y="3236976"/>
            <a:ext cx="91440" cy="914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40680" y="319125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(mm:ss)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246120" y="3639312"/>
            <a:ext cx="5577840" cy="1298448"/>
          </a:xfrm>
          <a:prstGeom prst="roundRect">
            <a:avLst>
              <a:gd name="adj" fmla="val 5634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246120" y="3639312"/>
            <a:ext cx="1920240" cy="1298448"/>
          </a:xfrm>
          <a:prstGeom prst="roundRect">
            <a:avLst>
              <a:gd name="adj" fmla="val 5634"/>
            </a:avLst>
          </a:prstGeom>
          <a:solidFill>
            <a:srgbClr val="F39C12">
              <a:alpha val="95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10128" y="3749040"/>
            <a:ext cx="179222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3 — Raw Values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285232" y="3858768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40680" y="3813048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Vpv to 3 decimal places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285232" y="4123944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440680" y="4078224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 to 4 decimal places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5285232" y="4389120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440680" y="4343400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 to 3 decimal places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285232" y="4654296"/>
            <a:ext cx="91440" cy="9144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40680" y="4608576"/>
            <a:ext cx="32461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Vbat · Temp (precise)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46120" y="4828032"/>
            <a:ext cx="5577840" cy="256032"/>
          </a:xfrm>
          <a:prstGeom prst="roundRect">
            <a:avLst>
              <a:gd name="adj" fmla="val 21429"/>
            </a:avLst>
          </a:prstGeom>
          <a:solidFill>
            <a:srgbClr val="CCFBF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246120" y="4828032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mode button (Pin 3) to cycle screens  ·  Automatic fault screen if T &gt; 45°C</a:t>
            </a:r>
            <a:endParaRPr lang="en-US" sz="1000" dirty="0"/>
          </a:p>
        </p:txBody>
      </p:sp>
      <p:sp>
        <p:nvSpPr>
          <p:cNvPr id="45" name="AutoShape 4">
            <a:extLst>
              <a:ext uri="{FF2B5EF4-FFF2-40B4-BE49-F238E27FC236}">
                <a16:creationId xmlns:a16="http://schemas.microsoft.com/office/drawing/2014/main" id="{B9458773-AD39-8C94-ADAE-9A8806F516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2BAA9D4E-DB0A-90ED-16DE-08BEDE96C9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407" t="28315" r="18492"/>
          <a:stretch>
            <a:fillRect/>
          </a:stretch>
        </p:blipFill>
        <p:spPr>
          <a:xfrm>
            <a:off x="320040" y="804672"/>
            <a:ext cx="2697480" cy="40599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using bench power supply at Vin = 20.84 V · Ilim = 1.23 A — emulating PV source at Vmp under Standard Test Conditions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42416"/>
          <a:ext cx="8595360" cy="3703320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/ 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LM2596 5V 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 V ±0.05V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XL4015 output voltage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12.60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12.60 V exactly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INA219 I²C detection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0x40 found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Address 0x40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accuracy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±0.8°C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±1°C spec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LVD disconnect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9.02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9.00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LVD reconnect threshold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11.05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11.00 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SoH Coulomb counting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89.2% · 2140mAh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Tracked vs nominal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MPPT convergence speed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control cycles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 at Vmp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 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Implementation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804672"/>
            <a:ext cx="5166360" cy="3547872"/>
          </a:xfrm>
          <a:prstGeom prst="roundRect">
            <a:avLst>
              <a:gd name="adj" fmla="val 3093"/>
            </a:avLst>
          </a:prstGeom>
          <a:solidFill>
            <a:srgbClr val="E4EBF7"/>
          </a:solidFill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92608" y="804672"/>
            <a:ext cx="5166360" cy="3547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REAL-LIFE PHOTO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ASSEMBLED SYSTEM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HERE]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92608" y="4370832"/>
            <a:ext cx="5166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Assembled system — three perfboards, Arduino Mega 2560, solar panel, and battery pack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0" y="777240"/>
            <a:ext cx="31821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Highlights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0" y="1207008"/>
            <a:ext cx="318211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15584" y="1234440"/>
            <a:ext cx="2889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boards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15584" y="1463040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perfboards — each tested independently before integration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669280" y="1865376"/>
            <a:ext cx="318211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15584" y="1892808"/>
            <a:ext cx="2889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headers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15584" y="2121408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on 2.54mm sockets — replaceable without desoldering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0" y="2523744"/>
            <a:ext cx="318211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15584" y="2551176"/>
            <a:ext cx="2889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wire colours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15584" y="2779776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colour per net — professional and traceable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669280" y="3182112"/>
            <a:ext cx="318211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15584" y="3209544"/>
            <a:ext cx="2889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Screw terminals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15584" y="3438144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J1/J2/J3 for high-current: panel, battery, and fan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3840480"/>
            <a:ext cx="3182112" cy="566928"/>
          </a:xfrm>
          <a:prstGeom prst="roundRect">
            <a:avLst>
              <a:gd name="adj" fmla="val 1129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5584" y="3867912"/>
            <a:ext cx="2889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Heatsink on Q1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15584" y="4096512"/>
            <a:ext cx="288950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IRLZ44N with clip-on aluminium for safe load switching</a:t>
            </a:r>
            <a:endParaRPr lang="en-US" sz="10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8194DA-C716-74C9-EB1C-3F043803265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6" y="646938"/>
            <a:ext cx="5394960" cy="37056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Achievements &amp; Limitations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804672"/>
            <a:ext cx="4160520" cy="402336"/>
          </a:xfrm>
          <a:prstGeom prst="roundRect">
            <a:avLst>
              <a:gd name="adj" fmla="val 15909"/>
            </a:avLst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690872" y="804672"/>
            <a:ext cx="4160520" cy="402336"/>
          </a:xfrm>
          <a:prstGeom prst="roundRect">
            <a:avLst>
              <a:gd name="adj" fmla="val 15909"/>
            </a:avLst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92608" y="8046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Objectives Achieved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690872" y="804672"/>
            <a:ext cx="4160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Limitations &amp; Scope Notes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84048" y="134416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13075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P&amp;O MPPT converges within 3 control cycles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837944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8013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CC/CV phase transitions at 11.5V and 12.6V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2331720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29514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INA219 real-time power monitoring via I²C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4048" y="2825496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DS18B20 within ±0.8°C · fault at 45°C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3319272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28269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LVD disconnect at 9.0V · reconnect at 11.0V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4048" y="3813048"/>
            <a:ext cx="182880" cy="1828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7647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 Coulomb counting: 89.2% capacity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82312" y="1344168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38344" y="130759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INA219 — battery-side I measured indirectly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82312" y="1837944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38344" y="1801368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XL4015 EN pin not exposed — MPPT via Serial Monitor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82312" y="233172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38344" y="2295144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cell-level balancing (BMS removed for deadline)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82312" y="2825496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38344" y="278892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voltage hardcoded (divider section skipped)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82312" y="3319272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38344" y="3282696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Perfboard build — parasitic inductances in switch loops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F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2608" y="859536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20624" y="1024128"/>
            <a:ext cx="566928" cy="5669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105156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969264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INA219 @ 0x41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078992" y="1335024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A0 pad on the second module to assign address 0x41 and measure battery-side current directly, improving Coulomb counting.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92608" y="2249424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20624" y="241401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2441448"/>
            <a:ext cx="512064" cy="5120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235915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KiCad PCB Design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078992" y="2724912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perfboard with a custom 2-layer PCB. Reduces parasitic inductances, improves switching performance, and produces a professional portfolio deliverable.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92608" y="3639312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20624" y="3803904"/>
            <a:ext cx="566928" cy="566928"/>
          </a:xfrm>
          <a:prstGeom prst="ellipse">
            <a:avLst/>
          </a:prstGeom>
          <a:solidFill>
            <a:srgbClr val="0F1F3D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3831336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78992" y="3749040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Panel Integration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078992" y="4114800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25Wp panel outdoors and validate MPPT performance under real variable irradiance conditions vs. bench supply baseline.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754880" y="859536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4882896" y="1024128"/>
            <a:ext cx="566928" cy="56692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1051560"/>
            <a:ext cx="512064" cy="51206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541264" y="969264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Multiplexer (TCA9548A)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5541264" y="1335024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multiplexer to route additional same-address sensors to separate bus channels — eliminating I²C address conflict permanently.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754880" y="2249424"/>
            <a:ext cx="4251960" cy="1261872"/>
          </a:xfrm>
          <a:prstGeom prst="roundRect">
            <a:avLst>
              <a:gd name="adj" fmla="val 7246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4882896" y="2414016"/>
            <a:ext cx="566928" cy="56692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441448"/>
            <a:ext cx="512064" cy="51206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41264" y="2359152"/>
            <a:ext cx="33192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SoH Characterisation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541264" y="2724912"/>
            <a:ext cx="331927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full charge/discharge cycles to build a degradation dataset. Add temperature compensation for real-world Coulomb counting accuracy.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F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05840"/>
            <a:ext cx="3840480" cy="3840480"/>
          </a:xfrm>
          <a:prstGeom prst="ellipse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3291840"/>
            <a:ext cx="2560320" cy="256032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201168"/>
            <a:ext cx="8412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58368" y="969264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Solar BEMS was designed, implemented, and validated — covering MPPT, CC/CV charging, thermal protection, LVD, and real-time monitoring.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801368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7647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P&amp;O MPPT was validated — convergence to Vmp within 3 control cycles. XL4015 CC/CV transitions confirmed at 11.5V and 12.6V with correct threshold behaviour.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58368" y="25603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primary project objectives were verified through bench-supply testing at Vin = 20.84 V, emulating the 25Wp panel at its maximum power point.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392424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3355848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display of Vpv, Ipv, Ppv, Vbat, Temperature, SoC%, and system mode on OLED. Serial data log available at 115200 baud for post-analysis.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4187952"/>
            <a:ext cx="201168" cy="20116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415137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provides a deployable platform for off-grid solar storage with clear engineering pathways for KiCad PCB and physical panel deployment.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3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1840" y="-548640"/>
            <a:ext cx="2926080" cy="2926080"/>
          </a:xfrm>
          <a:prstGeom prst="ellipse">
            <a:avLst/>
          </a:prstGeom>
          <a:solidFill>
            <a:srgbClr val="F39C12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57200" y="3200400"/>
            <a:ext cx="2377440" cy="237744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800" dirty="0"/>
          </a:p>
        </p:txBody>
      </p:sp>
      <p:sp>
        <p:nvSpPr>
          <p:cNvPr id="5" name="Shape 3"/>
          <p:cNvSpPr/>
          <p:nvPr/>
        </p:nvSpPr>
        <p:spPr>
          <a:xfrm>
            <a:off x="3383280" y="2084832"/>
            <a:ext cx="2377440" cy="475488"/>
          </a:xfrm>
          <a:prstGeom prst="roundRect">
            <a:avLst>
              <a:gd name="adj" fmla="val 17308"/>
            </a:avLst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383280" y="20848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Salama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33101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&amp; Electronics Engineering  ·  Istanbul Arel University  ·  June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Oben DAĞ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9808" y="4133088"/>
            <a:ext cx="1755648" cy="841248"/>
          </a:xfrm>
          <a:prstGeom prst="roundRect">
            <a:avLst>
              <a:gd name="adj" fmla="val 8696"/>
            </a:avLst>
          </a:prstGeom>
          <a:solidFill>
            <a:srgbClr val="132748"/>
          </a:solidFill>
          <a:ln w="635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1513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749808" y="4544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88336" y="4133088"/>
            <a:ext cx="1755648" cy="841248"/>
          </a:xfrm>
          <a:prstGeom prst="roundRect">
            <a:avLst>
              <a:gd name="adj" fmla="val 8696"/>
            </a:avLst>
          </a:prstGeom>
          <a:solidFill>
            <a:srgbClr val="132748"/>
          </a:solidFill>
          <a:ln w="635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88336" y="41513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688336" y="4544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4133088"/>
            <a:ext cx="1755648" cy="841248"/>
          </a:xfrm>
          <a:prstGeom prst="roundRect">
            <a:avLst>
              <a:gd name="adj" fmla="val 8696"/>
            </a:avLst>
          </a:prstGeom>
          <a:solidFill>
            <a:srgbClr val="132748"/>
          </a:solidFill>
          <a:ln w="635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26864" y="41513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8/8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626864" y="4544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65392" y="4133088"/>
            <a:ext cx="1755648" cy="841248"/>
          </a:xfrm>
          <a:prstGeom prst="roundRect">
            <a:avLst>
              <a:gd name="adj" fmla="val 8696"/>
            </a:avLst>
          </a:prstGeom>
          <a:solidFill>
            <a:srgbClr val="132748"/>
          </a:solidFill>
          <a:ln w="6350">
            <a:solidFill>
              <a:srgbClr val="1A3A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65392" y="41513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65392" y="4544568"/>
            <a:ext cx="1755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Perfboards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2349</Words>
  <Application>Microsoft Office PowerPoint</Application>
  <PresentationFormat>On-screen Show (16:9)</PresentationFormat>
  <Paragraphs>301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Solar BEMS</dc:title>
  <dc:subject>PptxGenJS Presentation</dc:subject>
  <dc:creator>Ahmed Salama</dc:creator>
  <cp:lastModifiedBy>AHMED SALAMA</cp:lastModifiedBy>
  <cp:revision>4</cp:revision>
  <dcterms:created xsi:type="dcterms:W3CDTF">2026-06-12T11:30:14Z</dcterms:created>
  <dcterms:modified xsi:type="dcterms:W3CDTF">2026-06-15T07:06:09Z</dcterms:modified>
</cp:coreProperties>
</file>